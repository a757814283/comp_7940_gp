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107" autoAdjust="0"/>
  </p:normalViewPr>
  <p:slideViewPr>
    <p:cSldViewPr snapToGrid="0">
      <p:cViewPr varScale="1">
        <p:scale>
          <a:sx n="53" d="100"/>
          <a:sy n="53" d="100"/>
        </p:scale>
        <p:origin x="1152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Hello everyone, welcome to our presentation.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Today, we will introduce our group project: a scalable Telegram chatbot with multi-LLM failover.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We built a Telegram chatbot that keeps the user side stable, while the backend side can switch across different LLM services with logging, failover, and automated cloud deployment.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Let's dive in.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Here's the agenda for today's presentation.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We will start with the project background and goals, then move on to the system architecture, user flow, and key features.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We'll discuss the system's reliability and scalability, followed by the backend design and LLM integration details.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Finally, we'll cover the database, logging, DevOps practices, and conclude with a summary.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Our project focuses on building a Telegram chatbot designed for cloud deployment and powered by Large Language Models.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The system architecture is designed for flexibility.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The user experience is straightforward.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The core feature of our design is its reliability and scalability.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We use MongoDB to persist user settings and detailed chat logs.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Our project embraces DevOps principles.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In conclusion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7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3.svg"/><Relationship Id="rId4" Type="http://schemas.openxmlformats.org/officeDocument/2006/relationships/image" Target="../media/image6.sv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7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27.png"/><Relationship Id="rId5" Type="http://schemas.openxmlformats.org/officeDocument/2006/relationships/image" Target="../media/image20.svg"/><Relationship Id="rId10" Type="http://schemas.openxmlformats.org/officeDocument/2006/relationships/image" Target="../media/image26.png"/><Relationship Id="rId4" Type="http://schemas.openxmlformats.org/officeDocument/2006/relationships/image" Target="../media/image6.sv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7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12.sv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18.svg"/><Relationship Id="rId10" Type="http://schemas.openxmlformats.org/officeDocument/2006/relationships/image" Target="../media/image36.png"/><Relationship Id="rId4" Type="http://schemas.openxmlformats.org/officeDocument/2006/relationships/image" Target="../media/image12.sv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7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8.svg"/><Relationship Id="rId10" Type="http://schemas.openxmlformats.org/officeDocument/2006/relationships/image" Target="../media/image41.png"/><Relationship Id="rId4" Type="http://schemas.openxmlformats.org/officeDocument/2006/relationships/image" Target="../media/image37.sv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7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12.svg"/><Relationship Id="rId10" Type="http://schemas.openxmlformats.org/officeDocument/2006/relationships/image" Target="../media/image46.png"/><Relationship Id="rId4" Type="http://schemas.openxmlformats.org/officeDocument/2006/relationships/image" Target="../media/image42.jpe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4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l="7142" t="7142" r="7142" b="71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95000"/>
                </a:srgbClr>
              </a:gs>
              <a:gs pos="40000">
                <a:srgbClr val="FFFFFF">
                  <a:alpha val="85000"/>
                </a:srgbClr>
              </a:gs>
              <a:gs pos="100000">
                <a:srgbClr val="FFFFFF">
                  <a:alpha val="2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COMP7940 Group Project - Group N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A Scalable Telegram Chatbot with Multi-LLM Failover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42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3040" y="33528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Cloud-based design</a:t>
            </a:r>
            <a:endParaRPr lang="en-US" b="0" i="0" u="none" strike="noStrike" dirty="0">
              <a:solidFill>
                <a:srgbClr val="6B72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500" y="3429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31740" y="3350039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Automated deployment</a:t>
            </a:r>
            <a:endParaRPr lang="en-US" b="0" i="0" u="none" strike="noStrike" dirty="0">
              <a:solidFill>
                <a:srgbClr val="6B728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1000" y="3429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801100" y="3346726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Interaction Logging</a:t>
            </a:r>
            <a:endParaRPr lang="en-US" sz="1200" dirty="0"/>
          </a:p>
        </p:txBody>
      </p:sp>
      <p:sp>
        <p:nvSpPr>
          <p:cNvPr id="12" name="AutoShape 12"/>
          <p:cNvSpPr/>
          <p:nvPr/>
        </p:nvSpPr>
        <p:spPr>
          <a:xfrm>
            <a:off x="2463800" y="4704080"/>
            <a:ext cx="7264400" cy="1487446"/>
          </a:xfrm>
          <a:prstGeom prst="roundRect">
            <a:avLst>
              <a:gd name="adj" fmla="val 14285"/>
            </a:avLst>
          </a:prstGeom>
          <a:solidFill>
            <a:srgbClr val="10B981">
              <a:alpha val="8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0B98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43860" y="491744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556000" y="5404126"/>
            <a:ext cx="8890000" cy="3296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Telegram Chatbot ID:</a:t>
            </a:r>
            <a:r>
              <a:rPr lang="en-US" sz="1600" b="1" dirty="0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               </a:t>
            </a:r>
            <a:r>
              <a:rPr lang="en-US" sz="1600" b="1" i="0" u="none" strike="noStrike" dirty="0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@fishhedebot</a:t>
            </a:r>
            <a:br>
              <a:rPr lang="en-US" sz="16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600" b="1" dirty="0">
                <a:solidFill>
                  <a:srgbClr val="065F46"/>
                </a:solidFill>
                <a:latin typeface="Poppins"/>
                <a:cs typeface="Poppins"/>
                <a:sym typeface="Poppins"/>
              </a:rPr>
              <a:t>Group Members and IDs:         </a:t>
            </a:r>
            <a:r>
              <a:rPr lang="en-US" sz="16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Haoran HE,                   25421484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</a:t>
            </a:r>
            <a:r>
              <a:rPr lang="en-US" sz="1600" b="1" i="0" u="none" strike="noStrike" dirty="0" err="1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Haichuan</a:t>
            </a:r>
            <a:r>
              <a:rPr lang="en-US" sz="16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 NING,       25407740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</a:t>
            </a:r>
            <a:r>
              <a:rPr lang="en-US" sz="16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Zijian ZHOU,                25421859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600" dirty="0"/>
          </a:p>
        </p:txBody>
      </p:sp>
      <p:sp>
        <p:nvSpPr>
          <p:cNvPr id="15" name="AutoShape 15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762000" y="1651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1841500"/>
            <a:ext cx="558800" cy="558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41500" y="1752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01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Project Background &amp; Goal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8415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1752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02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2794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2794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29845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841500" y="2895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03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User Flow &amp; Main Functions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6223000" y="2794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2794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984500"/>
            <a:ext cx="558800" cy="558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02500" y="2895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04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Reliability &amp; Scalability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62000" y="3937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3937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4127500"/>
            <a:ext cx="558800" cy="558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841500" y="4038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05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Backend &amp; LLM Integration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6223000" y="3937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23000" y="3937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127500"/>
            <a:ext cx="558800" cy="558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02500" y="4038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06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Database &amp; Logging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762000" y="5080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762000" y="5080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9500" y="5270500"/>
            <a:ext cx="558800" cy="558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841500" y="5181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07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DevOps, Security &amp; Requirement Match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6223000" y="5080000"/>
            <a:ext cx="5207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223000" y="5080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5270500"/>
            <a:ext cx="558800" cy="558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302500" y="51816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08  </a:t>
            </a: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Project Background and Goal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048000" cy="304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381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10B98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1968500"/>
            <a:ext cx="2667000" cy="2667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508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Cloud-based LLM Chatbot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318000" y="17780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18000" y="1778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81200"/>
            <a:ext cx="533400" cy="533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1854200"/>
            <a:ext cx="5969000" cy="800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We built a Telegram chatbot for cloud deployment and LLM-based conversation.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318000" y="28575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18000" y="28575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3060700"/>
            <a:ext cx="533400" cy="533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34000" y="2933700"/>
            <a:ext cx="5969000" cy="800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Telegram is stable for user access, but LLM APIs may change, fail, or need replacement.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4318000" y="39370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318000" y="39370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4140200"/>
            <a:ext cx="533400" cy="533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334000" y="4013200"/>
            <a:ext cx="5969000" cy="800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Our goal is to keep the bot service running while allowing backend APIs to be changed easily.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318000" y="5016500"/>
            <a:ext cx="7112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318000" y="50165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5219700"/>
            <a:ext cx="533400" cy="533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334000" y="5092700"/>
            <a:ext cx="5969000" cy="800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The project also shows cloud practice in deployment, logging, security, and cost awareness.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75252" y="391775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75252" y="56515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Modular &amp; Scalable Infrastructure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1778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48500" y="1714500"/>
            <a:ext cx="425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Telegram Frontend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Users talk to the bot through Telegram.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540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667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2603500"/>
            <a:ext cx="425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MongoDB Persistence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The Telegram bot stores chat records in MongoDB.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3429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3556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48500" y="3492500"/>
            <a:ext cx="425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Backend Routing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The bot sends each request to one backend container.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4318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445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381500"/>
            <a:ext cx="425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Flexible Configuration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Different backends can use different models, providers, and API settings.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5207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5334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5270500"/>
            <a:ext cx="425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Modular Scalability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This modular design makes extension and replacement easier.</a:t>
            </a:r>
          </a:p>
        </p:txBody>
      </p:sp>
      <p:sp>
        <p:nvSpPr>
          <p:cNvPr id="22" name="AutoShape 22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933267F-6D3D-8257-9D72-556215CBB7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651000"/>
            <a:ext cx="5080000" cy="389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2127" r="2000" b="21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User Flow and Main Functions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371061" y="1651000"/>
            <a:ext cx="4137439" cy="3556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5334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Intuitive Chat Interface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99000" y="1651000"/>
            <a:ext cx="6731000" cy="825500"/>
          </a:xfrm>
          <a:prstGeom prst="roundRect">
            <a:avLst>
              <a:gd name="adj" fmla="val 1538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99000" y="1651000"/>
            <a:ext cx="762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016500" y="1803400"/>
            <a:ext cx="508000" cy="508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8100" y="190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1714500"/>
            <a:ext cx="552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Natural Conversation Start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Users can start the bot and send normal text questions.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99000" y="2603500"/>
            <a:ext cx="6731000" cy="825500"/>
          </a:xfrm>
          <a:prstGeom prst="roundRect">
            <a:avLst>
              <a:gd name="adj" fmla="val 1538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99000" y="2603500"/>
            <a:ext cx="762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016500" y="2755900"/>
            <a:ext cx="508000" cy="508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8100" y="285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15000" y="2667000"/>
            <a:ext cx="552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Backend Selection (/setllm)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Command "/setllm x" allows users to choose their preferred LLM backend.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699000" y="3556000"/>
            <a:ext cx="6731000" cy="825500"/>
          </a:xfrm>
          <a:prstGeom prst="roundRect">
            <a:avLst>
              <a:gd name="adj" fmla="val 1538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699000" y="3556000"/>
            <a:ext cx="762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016500" y="3708400"/>
            <a:ext cx="508000" cy="508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8100" y="3810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715000" y="3619500"/>
            <a:ext cx="552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Automated Health Check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The bot checks backend health when command `/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setllm</a:t>
            </a:r>
            <a:r>
              <a:rPr lang="en-US" sz="1300" b="0" i="0" u="none" strike="noStrike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` is used.</a:t>
            </a:r>
          </a:p>
        </p:txBody>
      </p:sp>
      <p:sp>
        <p:nvSpPr>
          <p:cNvPr id="23" name="AutoShape 23"/>
          <p:cNvSpPr/>
          <p:nvPr/>
        </p:nvSpPr>
        <p:spPr>
          <a:xfrm>
            <a:off x="4699000" y="4508500"/>
            <a:ext cx="6731000" cy="825500"/>
          </a:xfrm>
          <a:prstGeom prst="roundRect">
            <a:avLst>
              <a:gd name="adj" fmla="val 1538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4699000" y="4508500"/>
            <a:ext cx="762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5016500" y="4660900"/>
            <a:ext cx="508000" cy="508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18100" y="4762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715000" y="4572000"/>
            <a:ext cx="552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Status &amp; Failover Info (/health)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Command `/health` displays the current backend setting and failover rule.</a:t>
            </a:r>
          </a:p>
        </p:txBody>
      </p:sp>
      <p:sp>
        <p:nvSpPr>
          <p:cNvPr id="28" name="AutoShape 28"/>
          <p:cNvSpPr/>
          <p:nvPr/>
        </p:nvSpPr>
        <p:spPr>
          <a:xfrm>
            <a:off x="4699000" y="5461000"/>
            <a:ext cx="6731000" cy="825500"/>
          </a:xfrm>
          <a:prstGeom prst="roundRect">
            <a:avLst>
              <a:gd name="adj" fmla="val 1538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699000" y="5461000"/>
            <a:ext cx="762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5016500" y="5613400"/>
            <a:ext cx="508000" cy="508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18100" y="5715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5715000" y="5524500"/>
            <a:ext cx="552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Comprehensive Query Logging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Each question is logged before the final result is returned.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C80E9EC-A7C4-3042-757D-5ED1B8A98D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160" y="2372360"/>
            <a:ext cx="4096913" cy="2110489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AA7A975-394C-1B97-146E-F81EC2A15F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064" y="2063750"/>
            <a:ext cx="4109103" cy="276117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0A7B79C-246C-ED2A-D053-9F05605460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719" y="2696049"/>
            <a:ext cx="4056121" cy="1702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Reliability and Scalability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0" y="1651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1803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6510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Preferred backend startup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The bot starts from the user's preferred backend.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477000" y="24765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26289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4765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Automatic fault switching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If one backend fails, it tries the next backend ID automatically.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477000" y="3302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3454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33020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High availability of services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The service can still answer when one backend is unavailable.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477000" y="41275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4279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1275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Elastic scalability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New backend containers can be added without changing the bot logic.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477000" y="4953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5105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49530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Cloud Reliability Architecture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This gives a simple but effective cloud reliability design.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0A29204-A0AF-DFB3-EF3E-33CAE7FDA9B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2" r="1"/>
          <a:stretch>
            <a:fillRect/>
          </a:stretch>
        </p:blipFill>
        <p:spPr>
          <a:xfrm>
            <a:off x="76200" y="3055178"/>
            <a:ext cx="6324600" cy="9913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Backend Design and LLM Integration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1524000"/>
            <a:ext cx="6223000" cy="952500"/>
          </a:xfrm>
          <a:prstGeom prst="roundRect">
            <a:avLst>
              <a:gd name="adj" fmla="val 16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1714500"/>
            <a:ext cx="558800" cy="558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223000" y="16256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Independent configuration unit</a:t>
            </a:r>
            <a:b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Each backend has its own API key, base URL, API version, model, and shown name.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207000" y="2603500"/>
            <a:ext cx="6223000" cy="952500"/>
          </a:xfrm>
          <a:prstGeom prst="roundRect">
            <a:avLst>
              <a:gd name="adj" fmla="val 16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000" y="27940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23000" y="27051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Flexible connectivity</a:t>
            </a:r>
            <a:b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One backend can connect to one LLM provider or model setting.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207000" y="3683000"/>
            <a:ext cx="6223000" cy="952500"/>
          </a:xfrm>
          <a:prstGeom prst="roundRect">
            <a:avLst>
              <a:gd name="adj" fmla="val 16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3873500"/>
            <a:ext cx="558800" cy="558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23000" y="37846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Multi-API compatibility</a:t>
            </a:r>
            <a:b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The backend supports both HKBU-style API routes and OpenAI-compatible APIs.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207000" y="4762500"/>
            <a:ext cx="6223000" cy="952500"/>
          </a:xfrm>
          <a:prstGeom prst="roundRect">
            <a:avLst>
              <a:gd name="adj" fmla="val 1600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1000" y="4953000"/>
            <a:ext cx="558800" cy="558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23000" y="48641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Response traceability</a:t>
            </a:r>
            <a:b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The answer is returned with an LLM name prefix for clear identification.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6096000"/>
            <a:ext cx="10668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646A70D-40A8-9BC4-300D-D4B8AE5ACF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14" y="2114274"/>
            <a:ext cx="5009186" cy="27498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B4141A8-8E53-76A0-3365-5F1A956C70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14" y="2572364"/>
            <a:ext cx="5009186" cy="1888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1177559-3D5B-EB4B-8B07-9AD09A9146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53" y="2338776"/>
            <a:ext cx="5064707" cy="23555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Database and Logging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4889500"/>
            <a:ext cx="4826000" cy="8890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Robust Infrastructure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5969000" y="16510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8796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17526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MongoDB Core Storage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MongoDB stores user settings and chat records.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969000" y="27305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000" y="29591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2832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Log Details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Each record keeps the question, answer, preferred backend, used backend, model, status, and error.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969000" y="38100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40386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9116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Comprehensive Recording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Both successful and failed requests are logged.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969000" y="48895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51181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4991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Operational Intelligence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This improves debugging, monitoring, and post-incident analysis.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B9D37A7-1FCA-462A-FA32-C997BD2846B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5752" t="73553" r="30671"/>
          <a:stretch>
            <a:fillRect/>
          </a:stretch>
        </p:blipFill>
        <p:spPr bwMode="auto">
          <a:xfrm>
            <a:off x="81936" y="2387600"/>
            <a:ext cx="5805128" cy="1760220"/>
          </a:xfrm>
          <a:prstGeom prst="rect">
            <a:avLst/>
          </a:prstGeom>
          <a:ln>
            <a:noFill/>
          </a:ln>
          <a:effectLst>
            <a:outerShdw blurRad="50800" dist="38100" dir="3660000" algn="t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CA25799-9EEE-A7A4-1745-99D45FA502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21" y="2498725"/>
            <a:ext cx="5823957" cy="1533525"/>
          </a:xfrm>
          <a:prstGeom prst="rect">
            <a:avLst/>
          </a:prstGeom>
          <a:effectLst>
            <a:outerShdw blurRad="50800" dist="38100" dir="366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45363CF-9C18-014F-31FE-7F442596B5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881" y="2247900"/>
            <a:ext cx="5114390" cy="1917700"/>
          </a:xfrm>
          <a:prstGeom prst="rect">
            <a:avLst/>
          </a:prstGeom>
          <a:effectLst>
            <a:outerShdw blurRad="50800" dist="38100" dir="366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DevOps, Security, and Requirement Match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612" b="1612"/>
          <a:stretch>
            <a:fillRect/>
          </a:stretch>
        </p:blipFill>
        <p:spPr>
          <a:xfrm>
            <a:off x="762000" y="2146300"/>
            <a:ext cx="3556000" cy="2286000"/>
          </a:xfrm>
          <a:prstGeom prst="roundRect">
            <a:avLst>
              <a:gd name="adj" fmla="val 8333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5080000"/>
            <a:ext cx="3556000" cy="762000"/>
          </a:xfrm>
          <a:prstGeom prst="roundRect">
            <a:avLst>
              <a:gd name="adj" fmla="val 16666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Telegram Bot &amp; Cloud Services</a:t>
            </a:r>
          </a:p>
        </p:txBody>
      </p:sp>
      <p:sp>
        <p:nvSpPr>
          <p:cNvPr id="9" name="AutoShape 9"/>
          <p:cNvSpPr/>
          <p:nvPr/>
        </p:nvSpPr>
        <p:spPr>
          <a:xfrm>
            <a:off x="4699000" y="1778000"/>
            <a:ext cx="6731000" cy="1041400"/>
          </a:xfrm>
          <a:prstGeom prst="roundRect">
            <a:avLst>
              <a:gd name="adj" fmla="val 975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99000" y="1778000"/>
            <a:ext cx="76200" cy="1041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16500" y="1968500"/>
            <a:ext cx="660400" cy="6604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35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842000" y="1879600"/>
            <a:ext cx="533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Docker containerization management</a:t>
            </a:r>
            <a:b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Docker is used for the bot, backend services, and MongoDB.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699000" y="2946400"/>
            <a:ext cx="6731000" cy="1041400"/>
          </a:xfrm>
          <a:prstGeom prst="roundRect">
            <a:avLst>
              <a:gd name="adj" fmla="val 975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699000" y="2946400"/>
            <a:ext cx="76200" cy="1041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016500" y="3136900"/>
            <a:ext cx="660400" cy="6604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3500" y="32639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842000" y="3048000"/>
            <a:ext cx="533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GitHub Actions Automated Deployment</a:t>
            </a:r>
            <a:b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GitHub Actions deploys frontend and backend services to AWS EC2.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699000" y="4114800"/>
            <a:ext cx="6731000" cy="1041400"/>
          </a:xfrm>
          <a:prstGeom prst="roundRect">
            <a:avLst>
              <a:gd name="adj" fmla="val 975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99000" y="4114800"/>
            <a:ext cx="76200" cy="1041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016500" y="4305300"/>
            <a:ext cx="660400" cy="6604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3500" y="44323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842000" y="4216400"/>
            <a:ext cx="533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Runtime security key policy</a:t>
            </a:r>
            <a:b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Secrets are passed at runtime instead of being stored in the repository.</a:t>
            </a:r>
          </a:p>
        </p:txBody>
      </p:sp>
      <p:sp>
        <p:nvSpPr>
          <p:cNvPr id="24" name="AutoShape 24"/>
          <p:cNvSpPr/>
          <p:nvPr/>
        </p:nvSpPr>
        <p:spPr>
          <a:xfrm>
            <a:off x="4699000" y="5283200"/>
            <a:ext cx="6731000" cy="1041400"/>
          </a:xfrm>
          <a:prstGeom prst="roundRect">
            <a:avLst>
              <a:gd name="adj" fmla="val 975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699000" y="5283200"/>
            <a:ext cx="76200" cy="1041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5016500" y="5473700"/>
            <a:ext cx="660400" cy="6604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3500" y="56007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842000" y="5384800"/>
            <a:ext cx="533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Zero cost and full demand coverage</a:t>
            </a:r>
            <a:br>
              <a:rPr lang="en-US" sz="16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The project covers Telegram, LLM API, database logging, cloud hosting, containers, Git, and automated deployment.</a:t>
            </a:r>
            <a:b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The cloud cost is about 0 USD.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970CE12-8295-4E80-BA51-6455A2349F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619216"/>
            <a:ext cx="5851690" cy="17114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D15C911-3A7E-E9A5-48AA-E1D331BFE0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2634615"/>
            <a:ext cx="5833223" cy="17114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76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10B98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854200" y="2095500"/>
            <a:ext cx="1117600" cy="1117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8200" y="2349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Practical</a:t>
            </a:r>
            <a:b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Our</a:t>
            </a:r>
            <a:r>
              <a:rPr lang="en-US" sz="14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 project presents a practical cloud chatbot system.</a:t>
            </a:r>
          </a:p>
        </p:txBody>
      </p:sp>
      <p:sp>
        <p:nvSpPr>
          <p:cNvPr id="9" name="AutoShape 9"/>
          <p:cNvSpPr/>
          <p:nvPr/>
        </p:nvSpPr>
        <p:spPr>
          <a:xfrm>
            <a:off x="4318000" y="1778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10B98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410200" y="2095500"/>
            <a:ext cx="1117600" cy="1117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2349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4450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Reliable</a:t>
            </a:r>
            <a:b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4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It is modular, reliable, and easy to extend.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874000" y="1778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10B98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966200" y="2095500"/>
            <a:ext cx="1117600" cy="1117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20200" y="2349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0010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Robust Deployment</a:t>
            </a:r>
            <a:endParaRPr lang="en-US" sz="1100" dirty="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 dirty="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Its main strength is multi-backend failover with simple deployment.</a:t>
            </a:r>
          </a:p>
        </p:txBody>
      </p:sp>
      <p:sp>
        <p:nvSpPr>
          <p:cNvPr id="17" name="AutoShape 17"/>
          <p:cNvSpPr/>
          <p:nvPr/>
        </p:nvSpPr>
        <p:spPr>
          <a:xfrm>
            <a:off x="0" y="508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5461000" y="5905500"/>
            <a:ext cx="127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cap="flat" cmpd="sng">
            <a:solidFill>
              <a:srgbClr val="00A06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885</Words>
  <Application>Microsoft Office PowerPoint</Application>
  <PresentationFormat>宽屏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Arial</vt:lpstr>
      <vt:lpstr>Poppins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 hc</cp:lastModifiedBy>
  <cp:revision>78</cp:revision>
  <dcterms:modified xsi:type="dcterms:W3CDTF">2026-04-08T10:41:25Z</dcterms:modified>
</cp:coreProperties>
</file>